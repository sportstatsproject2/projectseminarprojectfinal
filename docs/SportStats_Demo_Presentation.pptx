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805543" y="1110343"/>
            <a:ext cx="5138057" cy="339634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BD8A1B"/>
                </a:solidFill>
                <a:latin typeface="Aptos"/>
              </a:rPr>
              <a:t>Football analytics platform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83771" y="1480457"/>
            <a:ext cx="6531429" cy="740229"/>
          </a:xfrm>
          <a:noFill/>
          <a:ln>
            <a:noFill/>
          </a:ln>
        </p:spPr>
        <p:txBody>
          <a:bodyPr wrap="square"/>
          <a:lstStyle/>
          <a:p>
            <a:r>
              <a:rPr lang="en-US" sz="5200" b="1">
                <a:solidFill>
                  <a:srgbClr val="16221B"/>
                </a:solidFill>
                <a:latin typeface="Aptos"/>
              </a:rPr>
              <a:t>SportStats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7314" y="2264229"/>
            <a:ext cx="6966857" cy="500743"/>
          </a:xfr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5C6A63"/>
                </a:solidFill>
                <a:latin typeface="Aptos"/>
              </a:rPr>
              <a:t>Football analytics platform for prediction, tactical structure, and video analysis</a:t>
            </a:r>
          </a:p>
        </p:txBody>
      </p:sp>
      <p:sp>
        <p:nvSpPr>
          <p:cNvPr id="7" name="Rectangle 7"/>
          <p:cNvSpPr/>
          <p:nvPr/>
        </p:nvSpPr>
        <p:spPr>
          <a:xfrm>
            <a:off x="805543" y="3135086"/>
            <a:ext cx="4397829" cy="805543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01486" y="3287486"/>
            <a:ext cx="1088571" cy="195943"/>
          </a:xfr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BD8A1B"/>
                </a:solidFill>
                <a:latin typeface="Aptos"/>
              </a:rPr>
              <a:t>Authors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01486" y="3513909"/>
            <a:ext cx="3352800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16221B"/>
                </a:solidFill>
                <a:latin typeface="Aptos"/>
              </a:rPr>
              <a:t>Daniel Emeka-Ilozor</a:t>
            </a:r>
          </a:p>
          <a:p>
            <a:r>
              <a:rPr lang="en-US" sz="2200" b="1">
                <a:solidFill>
                  <a:srgbClr val="16221B"/>
                </a:solidFill>
                <a:latin typeface="Aptos"/>
              </a:rPr>
              <a:t>Assylkhan Balmukhanov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27314" y="5704114"/>
            <a:ext cx="2612571" cy="283029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5C6A63"/>
                </a:solidFill>
                <a:latin typeface="Aptos"/>
              </a:rPr>
              <a:t>Demo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01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6171" y="1349829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A Flask web app for football analytics workflows in one place.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Combines statistical forecasting, tournament simulation, event-network graphics, and YOLO/OpenCV video analysis.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Designed for an interactive course demo: upload data or video, run the model, inspect the result immediately.</a:t>
            </a:r>
          </a:p>
        </p:txBody>
      </p:sp>
      <p:sp>
        <p:nvSpPr>
          <p:cNvPr id="7" name="Rectangle 7"/>
          <p:cNvSpPr/>
          <p:nvPr/>
        </p:nvSpPr>
        <p:spPr>
          <a:xfrm>
            <a:off x="827314" y="5050971"/>
            <a:ext cx="5138057" cy="587829"/>
          </a:xfrm>
          <a:prstGeom prst="rect">
            <a:avLst/>
          </a:prstGeom>
          <a:solidFill>
            <a:srgbClr val="EAF5EE"/>
          </a:solidFill>
          <a:ln>
            <a:solidFill>
              <a:srgbClr val="C8D8CE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3257" y="5225143"/>
            <a:ext cx="4789714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6B4D"/>
                </a:solidFill>
                <a:latin typeface="Aptos"/>
              </a:rPr>
              <a:t>Goal: turn raw match inputs into readable football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02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Technology Stack</a:t>
            </a:r>
          </a:p>
        </p:txBody>
      </p:sp>
      <p:sp>
        <p:nvSpPr>
          <p:cNvPr id="6" name="Rectangle 6"/>
          <p:cNvSpPr/>
          <p:nvPr/>
        </p:nvSpPr>
        <p:spPr>
          <a:xfrm>
            <a:off x="783771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66651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Web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18903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Flask app factory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Jinja templates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HTML/CSS/SVG UI</a:t>
            </a:r>
          </a:p>
        </p:txBody>
      </p:sp>
      <p:sp>
        <p:nvSpPr>
          <p:cNvPr id="9" name="Rectangle 9"/>
          <p:cNvSpPr/>
          <p:nvPr/>
        </p:nvSpPr>
        <p:spPr>
          <a:xfrm>
            <a:off x="3494314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677194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Data + Stats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729446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NumPy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pandas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Poisson models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Elo ratings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04857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387737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Vision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39989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OpenCV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Ultralytics YOLO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ByteTrack tracking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k-means shirt colors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915400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098280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Delivery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150531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Docker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GitHub Actions CI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Ruff + Pytest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release-hosted model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03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Rectangle 6"/>
          <p:cNvSpPr/>
          <p:nvPr/>
        </p:nvSpPr>
        <p:spPr>
          <a:xfrm>
            <a:off x="827314" y="1371600"/>
            <a:ext cx="1785257" cy="544286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66651" y="1521823"/>
            <a:ext cx="1506583" cy="243840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16221B"/>
                </a:solidFill>
                <a:latin typeface="Aptos"/>
              </a:rPr>
              <a:t>Browser UI</a:t>
            </a:r>
          </a:p>
        </p:txBody>
      </p:sp>
      <p:sp>
        <p:nvSpPr>
          <p:cNvPr id="8" name="Rectangle 8"/>
          <p:cNvSpPr/>
          <p:nvPr/>
        </p:nvSpPr>
        <p:spPr>
          <a:xfrm>
            <a:off x="2647406" y="1632857"/>
            <a:ext cx="117566" cy="3048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799806" y="1371600"/>
            <a:ext cx="1785257" cy="544286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2939143" y="1521823"/>
            <a:ext cx="1506583" cy="243840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16221B"/>
                </a:solidFill>
                <a:latin typeface="Aptos"/>
              </a:rPr>
              <a:t>Flask routes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619897" y="1632857"/>
            <a:ext cx="117566" cy="3048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772297" y="1371600"/>
            <a:ext cx="1785257" cy="544286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911634" y="1521823"/>
            <a:ext cx="1506583" cy="243840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16221B"/>
                </a:solidFill>
                <a:latin typeface="Aptos"/>
              </a:rPr>
              <a:t>Analytics services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592389" y="1632857"/>
            <a:ext cx="117566" cy="3048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744789" y="1371600"/>
            <a:ext cx="1785257" cy="544286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884126" y="1521823"/>
            <a:ext cx="1506583" cy="243840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16221B"/>
                </a:solidFill>
                <a:latin typeface="Aptos"/>
              </a:rPr>
              <a:t>Data/model assets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64880" y="1632857"/>
            <a:ext cx="117566" cy="3048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8717280" y="1371600"/>
            <a:ext cx="1785257" cy="544286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856617" y="1521823"/>
            <a:ext cx="1506583" cy="243840"/>
          </a:xfrm>
          <a:noFill/>
          <a:ln>
            <a:noFill/>
          </a:ln>
        </p:spPr>
        <p:txBody>
          <a:bodyPr wrap="square"/>
          <a:lstStyle/>
          <a:p>
            <a:r>
              <a:rPr lang="en-US" sz="1700" b="1">
                <a:solidFill>
                  <a:srgbClr val="16221B"/>
                </a:solidFill>
                <a:latin typeface="Aptos"/>
              </a:rPr>
              <a:t>Rendered results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36171" y="3004457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Routes validate inputs and dispatch to focused service modules.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Statistical services return plain dictionaries for templates and tests.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vision pipeline writes generated videos to static outputs for browser playback.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04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Implemented: Statistical Analytics</a:t>
            </a:r>
          </a:p>
        </p:txBody>
      </p:sp>
      <p:sp>
        <p:nvSpPr>
          <p:cNvPr id="6" name="Rectangle 6"/>
          <p:cNvSpPr/>
          <p:nvPr/>
        </p:nvSpPr>
        <p:spPr>
          <a:xfrm>
            <a:off x="783771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66651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Match Predictor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18903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Elo/team-strength inputs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Poisson score simulation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Win/draw/loss probabilities</a:t>
            </a:r>
          </a:p>
        </p:txBody>
      </p:sp>
      <p:sp>
        <p:nvSpPr>
          <p:cNvPr id="9" name="Rectangle 9"/>
          <p:cNvSpPr/>
          <p:nvPr/>
        </p:nvSpPr>
        <p:spPr>
          <a:xfrm>
            <a:off x="3494314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677194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xG Calculator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729446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Distance and goal angle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Body-part adjustment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Shot-map visualization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04857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387737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Elo Ratings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39989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International result history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Top-team ranking table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Home/neutral handling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915400" y="1436914"/>
            <a:ext cx="2492829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098280" y="1619794"/>
            <a:ext cx="2127069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World Cup Predictor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150531" y="2011680"/>
            <a:ext cx="2066109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2026 group structure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Elo-driven match xG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Round-of-32 knockout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05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Implemented: Tactical and Vision Analytics</a:t>
            </a:r>
          </a:p>
        </p:txBody>
      </p:sp>
      <p:sp>
        <p:nvSpPr>
          <p:cNvPr id="6" name="Rectangle 6"/>
          <p:cNvSpPr/>
          <p:nvPr/>
        </p:nvSpPr>
        <p:spPr>
          <a:xfrm>
            <a:off x="783771" y="1436914"/>
            <a:ext cx="3396343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66651" y="1619794"/>
            <a:ext cx="3030583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Passing Network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18903" y="2011680"/>
            <a:ext cx="2969623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JSON pass-event editor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Average player positions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Weighted links and central player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397829" y="1436914"/>
            <a:ext cx="3396343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580709" y="1619794"/>
            <a:ext cx="3030583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YOLO Vision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632960" y="2011680"/>
            <a:ext cx="2969623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Players, referees, and ball tracking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Team color assignment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Possession, speed, distance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11886" y="1436914"/>
            <a:ext cx="3396343" cy="2960914"/>
          </a:xfrm>
          <a:prstGeom prst="rect">
            <a:avLst/>
          </a:prstGeom>
          <a:solidFill>
            <a:srgbClr val="FFFFFF"/>
          </a:solidFill>
          <a:ln>
            <a:solidFill>
              <a:srgbClr val="D8E0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194766" y="1619794"/>
            <a:ext cx="3030583" cy="269966"/>
          </a:xfr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176B4D"/>
                </a:solidFill>
                <a:latin typeface="Aptos"/>
              </a:rPr>
              <a:t>Model Handling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47017" y="2011680"/>
            <a:ext cx="2969623" cy="2090057"/>
          </a:xfrm>
          <a:noFill/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6221B"/>
                </a:solidFill>
                <a:latin typeface="Aptos"/>
              </a:rPr>
              <a:t>• Public best.pt release asset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Automatic model download path</a:t>
            </a:r>
          </a:p>
          <a:p>
            <a:r>
              <a:rPr lang="en-US" sz="1600">
                <a:solidFill>
                  <a:srgbClr val="16221B"/>
                </a:solidFill>
                <a:latin typeface="Aptos"/>
              </a:rPr>
              <a:t>• Full-video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06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Implemented: Engineering Quality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6171" y="1349829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Application factory structure with route and service separation.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Focused tests for prediction, xG, Elo, passing networks, model assets, vision helpers, and World Cup simulation.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GitHub pull-request workflow with CI checks.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Docker support and environment-based configuration.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README, training notes, architecture documentation, and demo instructions.</a:t>
            </a:r>
          </a:p>
        </p:txBody>
      </p:sp>
      <p:sp>
        <p:nvSpPr>
          <p:cNvPr id="7" name="Rectangle 7"/>
          <p:cNvSpPr/>
          <p:nvPr/>
        </p:nvSpPr>
        <p:spPr>
          <a:xfrm>
            <a:off x="827314" y="5050971"/>
            <a:ext cx="5138057" cy="587829"/>
          </a:xfrm>
          <a:prstGeom prst="rect">
            <a:avLst/>
          </a:prstGeom>
          <a:solidFill>
            <a:srgbClr val="EAF5EE"/>
          </a:solidFill>
          <a:ln>
            <a:solidFill>
              <a:srgbClr val="C8D8CE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3257" y="5225143"/>
            <a:ext cx="4789714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6B4D"/>
                </a:solidFill>
                <a:latin typeface="Aptos"/>
              </a:rPr>
              <a:t>Current local suite: 43 passing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07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Planned Feature Not Implemented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6171" y="1349829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Automated pass extraction from video into the passing-network page.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passing-network page accepts structured pass-event JSON today.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YOLO pipeline tracks players and ball control, but does not yet convert those tracks into pass events.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This is the main next step because it would connect the video-analysis workflow directly to tactical network analysis.</a:t>
            </a:r>
          </a:p>
        </p:txBody>
      </p:sp>
      <p:sp>
        <p:nvSpPr>
          <p:cNvPr id="7" name="Rectangle 7"/>
          <p:cNvSpPr/>
          <p:nvPr/>
        </p:nvSpPr>
        <p:spPr>
          <a:xfrm>
            <a:off x="827314" y="5050971"/>
            <a:ext cx="5138057" cy="587829"/>
          </a:xfrm>
          <a:prstGeom prst="rect">
            <a:avLst/>
          </a:prstGeom>
          <a:solidFill>
            <a:srgbClr val="EAF5EE"/>
          </a:solidFill>
          <a:ln>
            <a:solidFill>
              <a:srgbClr val="C8D8CE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3257" y="5225143"/>
            <a:ext cx="4789714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6B4D"/>
                </a:solidFill>
                <a:latin typeface="Aptos"/>
              </a:rPr>
              <a:t>Everything else shown in the demo is implemented in the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08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Demo Flow</a:t>
            </a:r>
          </a:p>
        </p:txBody>
      </p:sp>
      <p:sp>
        <p:nvSpPr>
          <p:cNvPr id="6" name="Rectangle 6"/>
          <p:cNvSpPr/>
          <p:nvPr/>
        </p:nvSpPr>
        <p:spPr>
          <a:xfrm>
            <a:off x="870857" y="1306286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36320" y="1397726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45771" y="1371600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Open the dashboard and show the feature navigation.</a:t>
            </a:r>
          </a:p>
        </p:txBody>
      </p:sp>
      <p:sp>
        <p:nvSpPr>
          <p:cNvPr id="9" name="Rectangle 9"/>
          <p:cNvSpPr/>
          <p:nvPr/>
        </p:nvSpPr>
        <p:spPr>
          <a:xfrm>
            <a:off x="870857" y="1828800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036320" y="1920240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545771" y="1894114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Run the Match Predictor with two teams and explain Elo/xG inputs.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0857" y="2351314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1036320" y="2442754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545771" y="2416629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Open the World Cup Predictor and run a scenario; point out Elo and xG in bracket cards.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0857" y="2873829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1036320" y="2965269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545771" y="2939143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Open Passing Network, edit/remove JSON events, and show event/player counts changing.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0857" y="3396343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036320" y="3487783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545771" y="3461657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Upload a football clip in YOLO Vision and play the processed output.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70857" y="3918857"/>
            <a:ext cx="522514" cy="374469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1036320" y="4010297"/>
            <a:ext cx="195943" cy="156754"/>
          </a:xfrm>
          <a:noFill/>
          <a:ln>
            <a:noFill/>
          </a:ln>
        </p:spPr>
        <p:txBody>
          <a:bodyPr wrap="square"/>
          <a:lstStyle/>
          <a:p>
            <a:r>
              <a:rPr lang="en-US" sz="2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545771" y="3984171"/>
            <a:ext cx="7184571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Finish on Architecture to summarize how the pieces connect.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09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Local Demo Commands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6171" y="1349829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Open http://127.0.0.1:5000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Use a short clip first if the machine is slow.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Keep models/best.pt available for the custom detector.</a:t>
            </a:r>
          </a:p>
        </p:txBody>
      </p:sp>
      <p:sp>
        <p:nvSpPr>
          <p:cNvPr id="7" name="Rectangle 7"/>
          <p:cNvSpPr/>
          <p:nvPr/>
        </p:nvSpPr>
        <p:spPr>
          <a:xfrm>
            <a:off x="827314" y="1393371"/>
            <a:ext cx="7315200" cy="1785257"/>
          </a:xfrm>
          <a:prstGeom prst="rect">
            <a:avLst/>
          </a:prstGeom>
          <a:solidFill>
            <a:srgbClr val="102016"/>
          </a:solidFill>
          <a:ln>
            <a:solidFill>
              <a:srgbClr val="10201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45029" y="1589314"/>
            <a:ext cx="6879771" cy="1393371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FFFFFF"/>
                </a:solidFill>
                <a:latin typeface="Consolas"/>
              </a:rPr>
              <a:t>git pull --ff-only origin main</a:t>
            </a:r>
          </a:p>
          <a:p>
            <a:r>
              <a:rPr lang="en-US" sz="1800">
                <a:solidFill>
                  <a:srgbClr val="FFFFFF"/>
                </a:solidFill>
                <a:latin typeface="Consolas"/>
              </a:rPr>
              <a:t>source yolo_env/bin/activate</a:t>
            </a:r>
          </a:p>
          <a:p>
            <a:r>
              <a:rPr lang="en-US" sz="1800">
                <a:solidFill>
                  <a:srgbClr val="FFFFFF"/>
                </a:solidFill>
                <a:latin typeface="Consolas"/>
              </a:rPr>
              <a:t>python scripts/download_model.py</a:t>
            </a:r>
          </a:p>
          <a:p>
            <a:r>
              <a:rPr lang="en-US" sz="1800">
                <a:solidFill>
                  <a:srgbClr val="FFFFFF"/>
                </a:solidFill>
                <a:latin typeface="Consolas"/>
              </a:rPr>
              <a:t>flask --app app run --debug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36171" y="3483429"/>
            <a:ext cx="6966857" cy="1393371"/>
          </a:xfr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6221B"/>
                </a:solidFill>
                <a:latin typeface="Aptos"/>
              </a:rPr>
              <a:t>• Open http://127.0.0.1:5000</a:t>
            </a:r>
          </a:p>
          <a:p>
            <a:r>
              <a:rPr lang="en-US" sz="1800">
                <a:solidFill>
                  <a:srgbClr val="16221B"/>
                </a:solidFill>
                <a:latin typeface="Aptos"/>
              </a:rPr>
              <a:t>• Use a short clip first if the machine is slow.</a:t>
            </a:r>
          </a:p>
          <a:p>
            <a:r>
              <a:rPr lang="en-US" sz="1800">
                <a:solidFill>
                  <a:srgbClr val="16221B"/>
                </a:solidFill>
                <a:latin typeface="Aptos"/>
              </a:rPr>
              <a:t>• Keep models/best.pt available for the custom detector.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3"/>
          </a:solidFill>
          <a:ln>
            <a:solidFill>
              <a:srgbClr val="F4F7F3"/>
            </a:solidFill>
          </a:ln>
        </p:spPr>
      </p:sp>
      <p:sp>
        <p:nvSpPr>
          <p:cNvPr id="2" name="Rectangle 2"/>
          <p:cNvSpPr/>
          <p:nvPr/>
        </p:nvSpPr>
        <p:spPr>
          <a:xfrm>
            <a:off x="0" y="0"/>
            <a:ext cx="330926" cy="6858000"/>
          </a:xfrm>
          <a:prstGeom prst="rect">
            <a:avLst/>
          </a:prstGeom>
          <a:solidFill>
            <a:srgbClr val="176B4D"/>
          </a:solidFill>
          <a:ln>
            <a:solidFill>
              <a:srgbClr val="176B4D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1939451" y="0"/>
            <a:ext cx="252549" cy="6858000"/>
          </a:xfrm>
          <a:prstGeom prst="rect">
            <a:avLst/>
          </a:prstGeom>
          <a:solidFill>
            <a:srgbClr val="BD8A1B"/>
          </a:solidFill>
          <a:ln>
            <a:solidFill>
              <a:srgbClr val="BD8A1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66206" y="330926"/>
            <a:ext cx="391886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BD8A1B"/>
                </a:solidFill>
                <a:latin typeface="Aptos"/>
              </a:rPr>
              <a:t>10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5543" y="483326"/>
            <a:ext cx="7402286" cy="391886"/>
          </a:xfrm>
          <a:noFill/>
          <a:ln>
            <a:noFill/>
          </a:ln>
        </p:spPr>
        <p:txBody>
          <a:bodyPr wrap="square"/>
          <a:lstStyle/>
          <a:p>
            <a:r>
              <a:rPr lang="en-US" sz="3400" b="1">
                <a:solidFill>
                  <a:srgbClr val="16221B"/>
                </a:solidFill>
                <a:latin typeface="Aptos"/>
              </a:rPr>
              <a:t>Closing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6171" y="1349829"/>
            <a:ext cx="7141029" cy="2438400"/>
          </a:xfr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project demonstrates statistical football analysis, tactical event visualization, and computer vision in one workflow.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implemented parts are demo-ready and covered by automated checks.</a:t>
            </a:r>
          </a:p>
          <a:p>
            <a:r>
              <a:rPr lang="en-US" sz="2000">
                <a:solidFill>
                  <a:srgbClr val="16221B"/>
                </a:solidFill>
                <a:latin typeface="Aptos"/>
              </a:rPr>
              <a:t>• The only planned feature outside the demo is automatic conversion from video tracks to pass-event JSON.</a:t>
            </a:r>
          </a:p>
        </p:txBody>
      </p:sp>
      <p:sp>
        <p:nvSpPr>
          <p:cNvPr id="7" name="Rectangle 7"/>
          <p:cNvSpPr/>
          <p:nvPr/>
        </p:nvSpPr>
        <p:spPr>
          <a:xfrm>
            <a:off x="827314" y="5050971"/>
            <a:ext cx="5138057" cy="587829"/>
          </a:xfrm>
          <a:prstGeom prst="rect">
            <a:avLst/>
          </a:prstGeom>
          <a:solidFill>
            <a:srgbClr val="EAF5EE"/>
          </a:solidFill>
          <a:ln>
            <a:solidFill>
              <a:srgbClr val="C8D8CE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3257" y="5225143"/>
            <a:ext cx="4789714" cy="226423"/>
          </a:xfrm>
          <a:noFill/>
          <a:ln>
            <a:noFill/>
          </a:ln>
        </p:spPr>
        <p:txBody>
          <a:bodyPr wrap="square"/>
          <a:lstStyle/>
          <a:p>
            <a:r>
              <a:rPr lang="en-US" sz="2000" b="1">
                <a:solidFill>
                  <a:srgbClr val="176B4D"/>
                </a:solidFill>
                <a:latin typeface="Aptos"/>
              </a:rPr>
              <a:t>Questions and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rtStats">
  <a:themeElements>
    <a:clrScheme name="SportStats">
      <a:dk1>
        <a:srgbClr val="16221B"/>
      </a:dk1>
      <a:lt1>
        <a:srgbClr val="FFFFFF"/>
      </a:lt1>
      <a:dk2>
        <a:srgbClr val="176B4D"/>
      </a:dk2>
      <a:lt2>
        <a:srgbClr val="F4F7F3"/>
      </a:lt2>
      <a:accent1>
        <a:srgbClr val="176B4D"/>
      </a:accent1>
      <a:accent2>
        <a:srgbClr val="1D5F8F"/>
      </a:accent2>
      <a:accent3>
        <a:srgbClr val="BD8A1B"/>
      </a:accent3>
      <a:accent4>
        <a:srgbClr val="5C6A63"/>
      </a:accent4>
      <a:accent5>
        <a:srgbClr val="D8E0DA"/>
      </a:accent5>
      <a:accent6>
        <a:srgbClr val="A83232"/>
      </a:accent6>
      <a:hlink>
        <a:srgbClr val="1D5F8F"/>
      </a:hlink>
      <a:folHlink>
        <a:srgbClr val="5C6A63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portStat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SportStatsProject</Application>
  <PresentationFormat>On-screen Show (16:9)</PresentationFormat>
  <Slides>11</Slides>
  <Company>SportStatsProject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SportStats Demo Presentation</dc:title>
  <dc:creator>Daniel Emeka-Ilozor; Assylkhan Balmukhanov</dc:creator>
  <cp:lastModifiedBy>SportStatsProject</cp:lastModifiedBy>
  <dcterms:created xsi:type="dcterms:W3CDTF">2026-05-18T10:16:13Z</dcterms:created>
  <dcterms:modified xsi:type="dcterms:W3CDTF">2026-05-18T10:16:13Z</dcterms:modified>
</cp:coreProperties>
</file>